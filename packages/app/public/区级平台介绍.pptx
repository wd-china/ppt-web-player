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257" r:id="rId3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8F9FB"/>
    <a:srgbClr val="1C223E"/>
    <a:srgbClr val="2759B1"/>
    <a:srgbClr val="1D479A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6"/>
        <p:guide pos="369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70ED1-E159-4E48-852D-A5207674261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图片 77" descr="背景图案&#10;&#10;AI 生成的内容可能不正确。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2" name="标题 1"/>
          <p:cNvSpPr>
            <a:spLocks noGrp="1"/>
          </p:cNvSpPr>
          <p:nvPr>
            <p:ph type="ctrTitle" idx="4294967295" hasCustomPrompt="1"/>
          </p:nvPr>
        </p:nvSpPr>
        <p:spPr>
          <a:xfrm>
            <a:off x="606863" y="1122363"/>
            <a:ext cx="9144000" cy="2387600"/>
          </a:xfrm>
          <a:prstGeom prst="rect">
            <a:avLst/>
          </a:prstGeom>
        </p:spPr>
        <p:txBody>
          <a:bodyPr vert="horz" lIns="67500" tIns="45720" rIns="91440" bIns="45720" rtlCol="0" anchor="b" anchorCtr="0">
            <a:normAutofit/>
          </a:bodyPr>
          <a:lstStyle>
            <a:lvl1pPr>
              <a:defRPr sz="6400"/>
            </a:lvl1pPr>
          </a:lstStyle>
          <a:p>
            <a:pPr algn="l"/>
            <a:r>
              <a:rPr kumimoji="1" lang="zh-CN" altLang="en-US" b="1" dirty="0">
                <a:solidFill>
                  <a:srgbClr val="0F50CF"/>
                </a:solidFill>
                <a:latin typeface="Source Han Sans CN Bold" panose="020B0500000000000000" pitchFamily="34" charset="-128"/>
                <a:ea typeface="Source Han Sans CN Bold" panose="020B0500000000000000" pitchFamily="34" charset="-128"/>
              </a:rPr>
              <a:t>融梦科技</a:t>
            </a:r>
            <a:endParaRPr kumimoji="1" lang="zh-CN" altLang="en-US" b="1" dirty="0">
              <a:solidFill>
                <a:srgbClr val="0F50CF"/>
              </a:solidFill>
              <a:latin typeface="Source Han Sans CN Bold" panose="020B0500000000000000" pitchFamily="34" charset="-128"/>
              <a:ea typeface="Source Han Sans CN Bold" panose="020B0500000000000000" pitchFamily="34" charset="-128"/>
            </a:endParaRPr>
          </a:p>
        </p:txBody>
      </p:sp>
      <p:sp>
        <p:nvSpPr>
          <p:cNvPr id="53" name="副标题 2"/>
          <p:cNvSpPr>
            <a:spLocks noGrp="1"/>
          </p:cNvSpPr>
          <p:nvPr>
            <p:ph type="subTitle" idx="9" hasCustomPrompt="1"/>
          </p:nvPr>
        </p:nvSpPr>
        <p:spPr>
          <a:xfrm>
            <a:off x="606863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pPr algn="l"/>
            <a:r>
              <a:rPr lang="zh-CN" altLang="en-US" sz="3000" dirty="0">
                <a:solidFill>
                  <a:srgbClr val="0F50CF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rPr>
              <a:t>校园综合解决方案</a:t>
            </a:r>
            <a:endParaRPr kumimoji="1" lang="zh-CN" altLang="en-US" sz="3000" dirty="0">
              <a:solidFill>
                <a:srgbClr val="0F50CF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</a:endParaRPr>
          </a:p>
        </p:txBody>
      </p:sp>
      <p:pic>
        <p:nvPicPr>
          <p:cNvPr id="55" name="图片 54" descr="徽标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6213" y="528059"/>
            <a:ext cx="1131839" cy="390289"/>
          </a:xfrm>
          <a:prstGeom prst="rect">
            <a:avLst/>
          </a:prstGeom>
        </p:spPr>
      </p:pic>
      <p:pic>
        <p:nvPicPr>
          <p:cNvPr id="57" name="图片 56" descr="图标&#10;&#10;AI 生成的内容可能不正确。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149396">
            <a:off x="6542760" y="-774652"/>
            <a:ext cx="7006035" cy="7138551"/>
          </a:xfrm>
          <a:prstGeom prst="rect">
            <a:avLst/>
          </a:prstGeom>
        </p:spPr>
      </p:pic>
      <p:sp>
        <p:nvSpPr>
          <p:cNvPr id="66" name="日期占位符 65"/>
          <p:cNvSpPr>
            <a:spLocks noGrp="1"/>
          </p:cNvSpPr>
          <p:nvPr>
            <p:ph type="dt" sz="half" idx="10"/>
          </p:nvPr>
        </p:nvSpPr>
        <p:spPr>
          <a:xfrm>
            <a:off x="575733" y="6147379"/>
            <a:ext cx="2743200" cy="365125"/>
          </a:xfrm>
        </p:spPr>
        <p:txBody>
          <a:bodyPr/>
          <a:lstStyle>
            <a:lvl1pPr>
              <a:defRPr sz="1600" b="0" i="0">
                <a:solidFill>
                  <a:srgbClr val="3DACFF"/>
                </a:solidFill>
                <a:latin typeface="Source Han Sans CN Regular" panose="020B0500000000000000" pitchFamily="34" charset="-128"/>
                <a:ea typeface="Source Han Sans CN Regular" panose="020B0500000000000000" pitchFamily="34" charset="-128"/>
              </a:defRPr>
            </a:lvl1pPr>
          </a:lstStyle>
          <a:p>
            <a:r>
              <a:rPr kumimoji="1" lang="en-US" altLang="zh-CN" dirty="0"/>
              <a:t>2025.06.06</a:t>
            </a:r>
            <a:endParaRPr kumimoji="1" lang="zh-CN" altLang="en-US" dirty="0"/>
          </a:p>
        </p:txBody>
      </p:sp>
      <p:sp>
        <p:nvSpPr>
          <p:cNvPr id="80" name="文本占位符 79"/>
          <p:cNvSpPr>
            <a:spLocks noGrp="1"/>
          </p:cNvSpPr>
          <p:nvPr>
            <p:ph type="body" sz="quarter" idx="11" hasCustomPrompt="1"/>
          </p:nvPr>
        </p:nvSpPr>
        <p:spPr>
          <a:xfrm>
            <a:off x="606863" y="4538133"/>
            <a:ext cx="2743200" cy="541867"/>
          </a:xfrm>
        </p:spPr>
        <p:txBody>
          <a:bodyPr>
            <a:normAutofit/>
          </a:bodyPr>
          <a:lstStyle>
            <a:lvl1pPr marL="0" indent="0">
              <a:buNone/>
              <a:defRPr sz="2135" b="0" i="0">
                <a:solidFill>
                  <a:srgbClr val="3DACFF"/>
                </a:solidFill>
                <a:latin typeface="Source Han Sans CN Regular" panose="020B0500000000000000" pitchFamily="34" charset="-128"/>
                <a:ea typeface="Source Han Sans CN Regular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汇报人：姓名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背景图案&#10;&#10;AI 生成的内容可能不正确。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椭圆 1"/>
          <p:cNvSpPr/>
          <p:nvPr userDrawn="1"/>
        </p:nvSpPr>
        <p:spPr>
          <a:xfrm>
            <a:off x="408825" y="419671"/>
            <a:ext cx="317500" cy="317500"/>
          </a:xfrm>
          <a:prstGeom prst="ellipse">
            <a:avLst/>
          </a:prstGeom>
          <a:solidFill>
            <a:srgbClr val="0F50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5"/>
          </a:p>
        </p:txBody>
      </p:sp>
      <p:sp>
        <p:nvSpPr>
          <p:cNvPr id="3" name="椭圆 2"/>
          <p:cNvSpPr/>
          <p:nvPr userDrawn="1"/>
        </p:nvSpPr>
        <p:spPr>
          <a:xfrm>
            <a:off x="602500" y="584771"/>
            <a:ext cx="222251" cy="222251"/>
          </a:xfrm>
          <a:prstGeom prst="ellipse">
            <a:avLst/>
          </a:prstGeom>
          <a:solidFill>
            <a:srgbClr val="3DAC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5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920000" y="369179"/>
            <a:ext cx="3541183" cy="492444"/>
          </a:xfrm>
        </p:spPr>
        <p:txBody>
          <a:bodyPr anchor="ctr">
            <a:normAutofit/>
          </a:bodyPr>
          <a:lstStyle>
            <a:lvl1pPr marL="0" indent="0">
              <a:buNone/>
              <a:defRPr sz="2400" b="1" i="0">
                <a:solidFill>
                  <a:srgbClr val="0F50CF"/>
                </a:solidFill>
                <a:latin typeface="Source Han Sans CN Bold" panose="020B0500000000000000" pitchFamily="34" charset="-128"/>
                <a:ea typeface="Source Han Sans CN Bold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标题标题标题</a:t>
            </a:r>
            <a:endParaRPr kumimoji="1"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920000" y="884512"/>
            <a:ext cx="3541183" cy="346291"/>
          </a:xfrm>
        </p:spPr>
        <p:txBody>
          <a:bodyPr anchor="t">
            <a:normAutofit/>
          </a:bodyPr>
          <a:lstStyle>
            <a:lvl1pPr marL="0" indent="0">
              <a:buNone/>
              <a:defRPr sz="1335" b="1" i="0">
                <a:solidFill>
                  <a:srgbClr val="3DACFF"/>
                </a:solidFill>
                <a:latin typeface="Source Han Sans CN Bold" panose="020B0500000000000000" pitchFamily="34" charset="-128"/>
                <a:ea typeface="Source Han Sans CN Bold" panose="020B0500000000000000" pitchFamily="34" charset="-128"/>
              </a:defRPr>
            </a:lvl1pPr>
          </a:lstStyle>
          <a:p>
            <a:pPr lvl="0"/>
            <a:r>
              <a:rPr kumimoji="1" lang="en-US" altLang="zh-CN" dirty="0"/>
              <a:t>DREAM SPORTS</a:t>
            </a:r>
            <a:endParaRPr kumimoji="1"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55797" y="-604847"/>
            <a:ext cx="3591384" cy="252254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背景图案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607060" y="3150235"/>
            <a:ext cx="9144000" cy="8940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zh-CN" altLang="en-US" sz="4000" b="1" dirty="0">
                <a:solidFill>
                  <a:srgbClr val="0F50CF"/>
                </a:solidFill>
                <a:latin typeface="微软雅黑" charset="0"/>
                <a:ea typeface="微软雅黑" charset="0"/>
                <a:cs typeface="微软雅黑" charset="0"/>
              </a:rPr>
              <a:t>区级</a:t>
            </a:r>
            <a:r>
              <a:rPr lang="zh-CN" altLang="en-US" sz="4000" b="1" dirty="0">
                <a:solidFill>
                  <a:srgbClr val="0F50CF"/>
                </a:solidFill>
                <a:latin typeface="微软雅黑" charset="0"/>
                <a:ea typeface="微软雅黑" charset="0"/>
                <a:cs typeface="微软雅黑" charset="0"/>
              </a:rPr>
              <a:t>平台介绍</a:t>
            </a:r>
            <a:endParaRPr lang="zh-CN" altLang="en-US" sz="4000" b="1" dirty="0">
              <a:solidFill>
                <a:srgbClr val="0F50C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6" name="图片 15" descr="徽标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13" y="528059"/>
            <a:ext cx="1131839" cy="390289"/>
          </a:xfrm>
          <a:prstGeom prst="rect">
            <a:avLst/>
          </a:prstGeom>
        </p:spPr>
      </p:pic>
      <p:cxnSp>
        <p:nvCxnSpPr>
          <p:cNvPr id="18" name="直线连接符 17"/>
          <p:cNvCxnSpPr/>
          <p:nvPr/>
        </p:nvCxnSpPr>
        <p:spPr>
          <a:xfrm>
            <a:off x="716215" y="4044051"/>
            <a:ext cx="5248800" cy="0"/>
          </a:xfrm>
          <a:prstGeom prst="line">
            <a:avLst/>
          </a:prstGeom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图片 22" descr="图标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49396">
            <a:off x="6542760" y="-774652"/>
            <a:ext cx="7006035" cy="7138551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07272" y="4583430"/>
            <a:ext cx="3934460" cy="378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865" b="1" dirty="0">
                <a:solidFill>
                  <a:srgbClr val="00B0F0"/>
                </a:solidFill>
                <a:latin typeface="微软雅黑" charset="0"/>
                <a:ea typeface="微软雅黑" charset="0"/>
              </a:rPr>
              <a:t>融梦科技</a:t>
            </a:r>
            <a:endParaRPr kumimoji="1" lang="zh-CN" altLang="en-US" sz="1865" b="1" dirty="0">
              <a:solidFill>
                <a:srgbClr val="00B0F0"/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20115" y="368935"/>
            <a:ext cx="3872865" cy="492760"/>
          </a:xfrm>
        </p:spPr>
        <p:txBody>
          <a:bodyPr>
            <a:normAutofit fontScale="80000"/>
          </a:bodyPr>
          <a:lstStyle/>
          <a:p>
            <a:r>
              <a:rPr kumimoji="1" lang="zh-CN" altLang="en-US" dirty="0">
                <a:latin typeface="微软雅黑" charset="0"/>
                <a:ea typeface="微软雅黑" charset="0"/>
                <a:cs typeface="微软雅黑" charset="0"/>
              </a:rPr>
              <a:t>智慧体育数据</a:t>
            </a:r>
            <a:r>
              <a:rPr kumimoji="1" lang="en-US" altLang="zh-CN" dirty="0">
                <a:latin typeface="微软雅黑" charset="0"/>
                <a:ea typeface="微软雅黑" charset="0"/>
                <a:cs typeface="微软雅黑" charset="0"/>
              </a:rPr>
              <a:t>——</a:t>
            </a:r>
            <a:r>
              <a:rPr kumimoji="1" lang="zh-CN" altLang="en-US" dirty="0">
                <a:latin typeface="微软雅黑" charset="0"/>
                <a:ea typeface="微软雅黑" charset="0"/>
                <a:cs typeface="微软雅黑" charset="0"/>
              </a:rPr>
              <a:t>区级概览</a:t>
            </a:r>
            <a:endParaRPr kumimoji="1"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对角圆角矩形 10"/>
          <p:cNvSpPr/>
          <p:nvPr/>
        </p:nvSpPr>
        <p:spPr>
          <a:xfrm>
            <a:off x="382270" y="1283335"/>
            <a:ext cx="2037715" cy="38354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486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Source Han Sans CN Regular" panose="020B0500000000000000" pitchFamily="34" charset="-128"/>
                <a:ea typeface="Source Han Sans CN Regular" panose="020B0500000000000000" pitchFamily="34" charset="-128"/>
              </a:rPr>
              <a:t>区智慧体育</a:t>
            </a:r>
            <a:r>
              <a:rPr kumimoji="1" lang="zh-CN" altLang="en-US" sz="1600" dirty="0">
                <a:latin typeface="Source Han Sans CN Regular" panose="020B0500000000000000" pitchFamily="34" charset="-128"/>
                <a:ea typeface="Source Han Sans CN Regular" panose="020B0500000000000000" pitchFamily="34" charset="-128"/>
              </a:rPr>
              <a:t>数据</a:t>
            </a:r>
            <a:endParaRPr kumimoji="1" lang="zh-CN" altLang="en-US" sz="1600" dirty="0">
              <a:latin typeface="Source Han Sans CN Regular" panose="020B0500000000000000" pitchFamily="34" charset="-128"/>
              <a:ea typeface="Source Han Sans CN Regular" panose="020B0500000000000000" pitchFamily="34" charset="-128"/>
            </a:endParaRPr>
          </a:p>
        </p:txBody>
      </p:sp>
      <p:sp>
        <p:nvSpPr>
          <p:cNvPr id="5" name="对角圆角矩形 4"/>
          <p:cNvSpPr/>
          <p:nvPr/>
        </p:nvSpPr>
        <p:spPr>
          <a:xfrm>
            <a:off x="8555990" y="1409065"/>
            <a:ext cx="1529080" cy="38354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486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charset="0"/>
                <a:ea typeface="微软雅黑" charset="0"/>
                <a:cs typeface="微软雅黑" charset="0"/>
              </a:rPr>
              <a:t>支持多项数据</a:t>
            </a:r>
            <a:endParaRPr kumimoji="1" lang="zh-CN" altLang="en-US" sz="1600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1"/>
            </p:custDataLst>
          </p:nvPr>
        </p:nvSpPr>
        <p:spPr>
          <a:xfrm>
            <a:off x="8555990" y="1913890"/>
            <a:ext cx="3197860" cy="4063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kumimoji="1" lang="zh-CN" altLang="en-US" sz="1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测试人数</a:t>
            </a:r>
            <a:endParaRPr kumimoji="1" lang="zh-CN" altLang="en-US" sz="1400" dirty="0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kumimoji="1" lang="zh-CN" altLang="en-US" sz="1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覆盖学校</a:t>
            </a:r>
            <a:r>
              <a:rPr kumimoji="1" lang="en-US" altLang="zh-CN" sz="1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/</a:t>
            </a:r>
            <a:r>
              <a:rPr kumimoji="1" lang="zh-CN" altLang="en-US" sz="1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学生</a:t>
            </a:r>
            <a:endParaRPr kumimoji="1" lang="zh-CN" altLang="en-US" sz="1400" dirty="0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kumimoji="1" lang="zh-CN" altLang="en-US" sz="1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运动人次</a:t>
            </a:r>
            <a:r>
              <a:rPr kumimoji="1" lang="en-US" altLang="zh-CN" sz="1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/</a:t>
            </a:r>
            <a:r>
              <a:rPr kumimoji="1" lang="zh-CN" altLang="en-US" sz="1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总时长</a:t>
            </a:r>
            <a:endParaRPr kumimoji="1" lang="zh-CN" altLang="en-US" sz="1400" dirty="0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kumimoji="1" lang="zh-CN" altLang="en-US" sz="1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成绩合格率</a:t>
            </a:r>
            <a:endParaRPr kumimoji="1" lang="zh-CN" altLang="en-US" sz="1400" dirty="0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kumimoji="1" lang="zh-CN" altLang="en-US" sz="1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参与度</a:t>
            </a:r>
            <a:endParaRPr kumimoji="1" lang="zh-CN" altLang="en-US" sz="1400" dirty="0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kumimoji="1" lang="zh-CN" altLang="en-US" sz="1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各学校运动时</a:t>
            </a:r>
            <a:r>
              <a:rPr kumimoji="1" lang="zh-CN" altLang="en-US" sz="1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长排名</a:t>
            </a:r>
            <a:endParaRPr kumimoji="1" lang="zh-CN" altLang="en-US" sz="1400" dirty="0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kumimoji="1" lang="zh-CN" altLang="en-US" sz="1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学校运动参与度</a:t>
            </a:r>
            <a:r>
              <a:rPr kumimoji="1" lang="zh-CN" altLang="en-US" sz="1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排行</a:t>
            </a:r>
            <a:endParaRPr kumimoji="1" lang="zh-CN" altLang="en-US" sz="1400" dirty="0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kumimoji="1" lang="zh-CN" altLang="en-US" sz="1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各项目</a:t>
            </a:r>
            <a:r>
              <a:rPr kumimoji="1" lang="zh-CN" altLang="en-US" sz="1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合格率</a:t>
            </a:r>
            <a:endParaRPr kumimoji="1" lang="zh-CN" altLang="en-US" sz="1400" dirty="0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kumimoji="1" lang="zh-CN" altLang="en-US" sz="1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今日运动</a:t>
            </a:r>
            <a:r>
              <a:rPr kumimoji="1" lang="zh-CN" altLang="en-US" sz="1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人次</a:t>
            </a:r>
            <a:endParaRPr kumimoji="1" lang="zh-CN" altLang="en-US" sz="1400" dirty="0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endParaRPr kumimoji="1" lang="zh-CN" altLang="en-US" sz="1400" dirty="0"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92" y="1913966"/>
            <a:ext cx="7404100" cy="4279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5440" y="1576705"/>
            <a:ext cx="8483600" cy="4622800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20115" y="368935"/>
            <a:ext cx="3872865" cy="492760"/>
          </a:xfrm>
        </p:spPr>
        <p:txBody>
          <a:bodyPr>
            <a:normAutofit fontScale="80000"/>
          </a:bodyPr>
          <a:lstStyle/>
          <a:p>
            <a:r>
              <a:rPr kumimoji="1" lang="zh-CN" altLang="en-US" dirty="0">
                <a:latin typeface="微软雅黑" charset="0"/>
                <a:ea typeface="微软雅黑" charset="0"/>
                <a:cs typeface="微软雅黑" charset="0"/>
              </a:rPr>
              <a:t>智慧体育数据</a:t>
            </a:r>
            <a:r>
              <a:rPr kumimoji="1" lang="en-US" altLang="zh-CN" dirty="0">
                <a:latin typeface="微软雅黑" charset="0"/>
                <a:ea typeface="微软雅黑" charset="0"/>
                <a:cs typeface="微软雅黑" charset="0"/>
              </a:rPr>
              <a:t>——</a:t>
            </a:r>
            <a:r>
              <a:rPr kumimoji="1" lang="zh-CN" altLang="en-US" dirty="0">
                <a:latin typeface="微软雅黑" charset="0"/>
                <a:ea typeface="微软雅黑" charset="0"/>
                <a:cs typeface="微软雅黑" charset="0"/>
              </a:rPr>
              <a:t>学校</a:t>
            </a:r>
            <a:r>
              <a:rPr kumimoji="1" lang="zh-CN" altLang="en-US" dirty="0">
                <a:latin typeface="微软雅黑" charset="0"/>
                <a:ea typeface="微软雅黑" charset="0"/>
                <a:cs typeface="微软雅黑" charset="0"/>
              </a:rPr>
              <a:t>列表</a:t>
            </a:r>
            <a:endParaRPr kumimoji="1"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20115" y="944968"/>
            <a:ext cx="930145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包含学校名称</a:t>
            </a:r>
            <a:r>
              <a:rPr kumimoji="1" lang="en-US" altLang="zh-CN" sz="160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、</a:t>
            </a:r>
            <a:r>
              <a:rPr kumimoji="1" lang="zh-CN" altLang="en-US" sz="160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人数</a:t>
            </a:r>
            <a:r>
              <a:rPr kumimoji="1" lang="en-US" altLang="zh-CN" sz="160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、</a:t>
            </a:r>
            <a:r>
              <a:rPr kumimoji="1" lang="zh-CN" altLang="en-US" sz="160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运动人次</a:t>
            </a:r>
            <a:r>
              <a:rPr kumimoji="1" lang="en-US" altLang="zh-CN" sz="160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、</a:t>
            </a:r>
            <a:r>
              <a:rPr kumimoji="1" lang="zh-CN" altLang="en-US" sz="160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运动时长及参与度等</a:t>
            </a:r>
            <a:r>
              <a:rPr kumimoji="1" lang="zh-CN" altLang="en-US" sz="160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信息</a:t>
            </a:r>
            <a:endParaRPr kumimoji="1" lang="zh-CN" altLang="en-US" sz="1600" dirty="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705610" y="2308860"/>
            <a:ext cx="7058660" cy="1905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968875" y="1855470"/>
            <a:ext cx="615950" cy="191135"/>
          </a:xfrm>
          <a:prstGeom prst="rect">
            <a:avLst/>
          </a:prstGeom>
          <a:solidFill>
            <a:srgbClr val="2759B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20115" y="368935"/>
            <a:ext cx="3872865" cy="492760"/>
          </a:xfrm>
        </p:spPr>
        <p:txBody>
          <a:bodyPr>
            <a:normAutofit fontScale="80000"/>
          </a:bodyPr>
          <a:lstStyle/>
          <a:p>
            <a:r>
              <a:rPr kumimoji="1" lang="zh-CN" altLang="en-US" dirty="0">
                <a:latin typeface="微软雅黑" charset="0"/>
                <a:ea typeface="微软雅黑" charset="0"/>
                <a:cs typeface="微软雅黑" charset="0"/>
              </a:rPr>
              <a:t>智慧体育数据</a:t>
            </a:r>
            <a:r>
              <a:rPr kumimoji="1" lang="en-US" altLang="zh-CN" dirty="0">
                <a:latin typeface="微软雅黑" charset="0"/>
                <a:ea typeface="微软雅黑" charset="0"/>
                <a:cs typeface="微软雅黑" charset="0"/>
              </a:rPr>
              <a:t>——</a:t>
            </a:r>
            <a:r>
              <a:rPr kumimoji="1" lang="zh-CN" altLang="en-US" dirty="0">
                <a:latin typeface="微软雅黑" charset="0"/>
                <a:ea typeface="微软雅黑" charset="0"/>
                <a:cs typeface="微软雅黑" charset="0"/>
              </a:rPr>
              <a:t>学校</a:t>
            </a:r>
            <a:r>
              <a:rPr kumimoji="1" lang="zh-CN" altLang="en-US" dirty="0">
                <a:latin typeface="微软雅黑" charset="0"/>
                <a:ea typeface="微软雅黑" charset="0"/>
                <a:cs typeface="微软雅黑" charset="0"/>
              </a:rPr>
              <a:t>信息</a:t>
            </a:r>
            <a:endParaRPr kumimoji="1"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对角圆角矩形 10"/>
          <p:cNvSpPr/>
          <p:nvPr/>
        </p:nvSpPr>
        <p:spPr>
          <a:xfrm>
            <a:off x="382270" y="1283335"/>
            <a:ext cx="2037715" cy="38354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486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sz="1600" dirty="0">
                <a:latin typeface="Source Han Sans CN Regular" panose="020B0500000000000000" pitchFamily="34" charset="-128"/>
                <a:ea typeface="Source Han Sans CN Regular" panose="020B0500000000000000" pitchFamily="34" charset="-128"/>
              </a:rPr>
              <a:t>点击查看详细</a:t>
            </a:r>
            <a:r>
              <a:rPr kumimoji="1" lang="zh-CN" altLang="en-US" sz="1600" dirty="0">
                <a:latin typeface="Source Han Sans CN Regular" panose="020B0500000000000000" pitchFamily="34" charset="-128"/>
                <a:ea typeface="Source Han Sans CN Regular" panose="020B0500000000000000" pitchFamily="34" charset="-128"/>
              </a:rPr>
              <a:t>数据</a:t>
            </a:r>
            <a:endParaRPr kumimoji="1" lang="zh-CN" altLang="en-US" sz="1600" dirty="0">
              <a:latin typeface="Source Han Sans CN Regular" panose="020B0500000000000000" pitchFamily="34" charset="-128"/>
              <a:ea typeface="Source Han Sans CN Regular" panose="020B0500000000000000" pitchFamily="34" charset="-128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68595" y="2808605"/>
            <a:ext cx="419100" cy="14033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 l="89875" t="22975" r="5945" b="74649"/>
          <a:stretch>
            <a:fillRect/>
          </a:stretch>
        </p:blipFill>
        <p:spPr>
          <a:xfrm>
            <a:off x="6096000" y="2207260"/>
            <a:ext cx="930275" cy="32766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 l="93926" t="22570" r="615" b="74666"/>
          <a:stretch>
            <a:fillRect/>
          </a:stretch>
        </p:blipFill>
        <p:spPr>
          <a:xfrm>
            <a:off x="6096000" y="4450080"/>
            <a:ext cx="930910" cy="32766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30" y="1997710"/>
            <a:ext cx="5626100" cy="3594100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5364480" y="2783840"/>
            <a:ext cx="501650" cy="152400"/>
          </a:xfrm>
          <a:prstGeom prst="rect">
            <a:avLst/>
          </a:prstGeom>
          <a:noFill/>
          <a:ln w="22225">
            <a:solidFill>
              <a:srgbClr val="C00000">
                <a:alpha val="99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670" y="861695"/>
            <a:ext cx="4521200" cy="2578100"/>
          </a:xfrm>
          <a:prstGeom prst="rect">
            <a:avLst/>
          </a:prstGeom>
        </p:spPr>
      </p:pic>
      <p:sp>
        <p:nvSpPr>
          <p:cNvPr id="33" name="矩形 32"/>
          <p:cNvSpPr/>
          <p:nvPr/>
        </p:nvSpPr>
        <p:spPr>
          <a:xfrm>
            <a:off x="7492365" y="4211320"/>
            <a:ext cx="839470" cy="10795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9145" y="3439795"/>
            <a:ext cx="4521200" cy="30353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355.35,&quot;left&quot;:37.4,&quot;top&quot;:99.55,&quot;width&quot;:892.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WPS Office WWO_base_provider_20241024114842-a8ac09253f</Application>
  <PresentationFormat>宽屏</PresentationFormat>
  <Paragraphs>29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Kingsoft Confetti</vt:lpstr>
      <vt:lpstr>Source Han Sans CN Bold</vt:lpstr>
      <vt:lpstr>汉仪书宋二KW</vt:lpstr>
      <vt:lpstr>Source Han Sans CN Medium</vt:lpstr>
      <vt:lpstr>Source Han Sans CN Regular</vt:lpstr>
      <vt:lpstr>微软雅黑</vt:lpstr>
      <vt:lpstr>汉仪旗黑KW 55S</vt:lpstr>
      <vt:lpstr>苹方-简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睡不醒</cp:lastModifiedBy>
  <dcterms:created xsi:type="dcterms:W3CDTF">2026-04-22T11:57:21Z</dcterms:created>
  <dcterms:modified xsi:type="dcterms:W3CDTF">2026-04-22T11:57:21Z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4B6EE59410799BA9CA8CE869AC336C57_41</vt:lpwstr>
  </property>
</Properties>
</file>