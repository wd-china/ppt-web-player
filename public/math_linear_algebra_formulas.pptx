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1"/>
          </a:solidFill>
          <a:ln w="12700">
            <a:solidFill>
              <a:srgbClr val="FCF8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25A13"/>
          </a:solidFill>
          <a:ln w="12700">
            <a:solidFill>
              <a:srgbClr val="B25A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6693408"/>
            <a:ext cx="12045391" cy="164592"/>
          </a:xfrm>
          <a:prstGeom prst="rect">
            <a:avLst/>
          </a:prstGeom>
          <a:solidFill>
            <a:srgbClr val="F6DFBF"/>
          </a:solidFill>
          <a:ln w="12700">
            <a:solidFill>
              <a:srgbClr val="F6D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21792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4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线性代数核心公式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7A6C5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用矩阵、向量与特征结构理解高维空间</a:t>
            </a:r>
            <a:endParaRPr lang="en-US" sz="1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85888" y="685800"/>
            <a:ext cx="3316224" cy="77724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3760" y="2039112"/>
            <a:ext cx="3840480" cy="768096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23760" y="3323273"/>
            <a:ext cx="3840480" cy="76009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85800" y="2286000"/>
            <a:ext cx="5257800" cy="713232"/>
          </a:xfrm>
          <a:prstGeom prst="roundRect">
            <a:avLst>
              <a:gd name="adj" fmla="val 6410"/>
            </a:avLst>
          </a:prstGeom>
          <a:solidFill>
            <a:srgbClr val="F6DFBF">
              <a:alpha val="95000"/>
            </a:srgbClr>
          </a:solidFill>
          <a:ln w="10160">
            <a:solidFill>
              <a:srgbClr val="F6DFBF">
                <a:alpha val="70000"/>
              </a:srgbClr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868680" y="2414016"/>
            <a:ext cx="4892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核心直觉：矩阵是线性变换，特征值揭示变换的固有方向。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1137392" y="62819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6C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1"/>
          </a:solidFill>
          <a:ln w="12700">
            <a:solidFill>
              <a:srgbClr val="FCF8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25A13"/>
          </a:solidFill>
          <a:ln w="12700">
            <a:solidFill>
              <a:srgbClr val="B25A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6693408"/>
            <a:ext cx="12045391" cy="164592"/>
          </a:xfrm>
          <a:prstGeom prst="rect">
            <a:avLst/>
          </a:prstGeom>
          <a:solidFill>
            <a:srgbClr val="F6DFBF"/>
          </a:solidFill>
          <a:ln w="12700">
            <a:solidFill>
              <a:srgbClr val="F6D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矩阵运算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A6C5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把线性方程组写成紧凑结构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1143000"/>
            <a:ext cx="5166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E5CBA9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280160"/>
            <a:ext cx="4764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5A1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矩阵乘向量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78865"/>
            <a:ext cx="4654296" cy="39364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0" y="1143000"/>
            <a:ext cx="523951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E5CBA9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19088" y="1280160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5A1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矩阵乘法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91476" y="1618488"/>
            <a:ext cx="2692400" cy="9144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8368" y="3291840"/>
            <a:ext cx="10789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5CBA9">
                <a:alpha val="8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59536" y="3429000"/>
            <a:ext cx="10387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5A1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逆矩阵解方程</a:t>
            </a:r>
            <a:endParaRPr lang="en-US" sz="11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41499" y="3767328"/>
            <a:ext cx="4223657" cy="4572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68680" y="4919472"/>
            <a:ext cx="10332720" cy="658368"/>
          </a:xfrm>
          <a:prstGeom prst="roundRect">
            <a:avLst>
              <a:gd name="adj" fmla="val 6944"/>
            </a:avLst>
          </a:prstGeom>
          <a:solidFill>
            <a:srgbClr val="F6DFBF">
              <a:alpha val="95000"/>
            </a:srgbClr>
          </a:solidFill>
          <a:ln w="10160">
            <a:solidFill>
              <a:srgbClr val="F6DFBF">
                <a:alpha val="70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051560" y="5047488"/>
            <a:ext cx="99669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矩阵乘法不是逐元素相乘，而是“行与列”的线性组合。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1137392" y="62819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6C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1"/>
          </a:solidFill>
          <a:ln w="12700">
            <a:solidFill>
              <a:srgbClr val="FCF8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25A13"/>
          </a:solidFill>
          <a:ln w="12700">
            <a:solidFill>
              <a:srgbClr val="B25A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6693408"/>
            <a:ext cx="12045391" cy="164592"/>
          </a:xfrm>
          <a:prstGeom prst="rect">
            <a:avLst/>
          </a:prstGeom>
          <a:solidFill>
            <a:srgbClr val="F6DFBF"/>
          </a:solidFill>
          <a:ln w="12700">
            <a:solidFill>
              <a:srgbClr val="F6D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行列式与体积缩放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A6C5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行列式衡量线性变换对面积/体积的影响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52120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E5CBA9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371600"/>
            <a:ext cx="4809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5A1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二阶行列式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2386" y="1709928"/>
            <a:ext cx="2344045" cy="61264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36208" y="1234440"/>
            <a:ext cx="52120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E5CBA9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37376" y="1371600"/>
            <a:ext cx="4809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5A1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乘法性质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2240" y="1805638"/>
            <a:ext cx="4700016" cy="42122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8368" y="3063240"/>
            <a:ext cx="10789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5CBA9">
                <a:alpha val="8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59536" y="3200400"/>
            <a:ext cx="10387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5A1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可逆性判别</a:t>
            </a:r>
            <a:endParaRPr lang="en-US" sz="11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09339" y="3538728"/>
            <a:ext cx="6087979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" y="4681728"/>
            <a:ext cx="996696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24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绝对值表示体积缩放倍数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24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符号表示方向是否翻转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24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零行列式意味着维度被压缩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1137392" y="62819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6C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1"/>
          </a:solidFill>
          <a:ln w="12700">
            <a:solidFill>
              <a:srgbClr val="FCF8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25A13"/>
          </a:solidFill>
          <a:ln w="12700">
            <a:solidFill>
              <a:srgbClr val="B25A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6693408"/>
            <a:ext cx="12045391" cy="164592"/>
          </a:xfrm>
          <a:prstGeom prst="rect">
            <a:avLst/>
          </a:prstGeom>
          <a:solidFill>
            <a:srgbClr val="F6DFBF"/>
          </a:solidFill>
          <a:ln w="12700">
            <a:solidFill>
              <a:srgbClr val="F6D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特征值与特征向量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A6C5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变换后仍保持方向的向量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E5CBA9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371600"/>
            <a:ext cx="4855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5A1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定义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747110"/>
            <a:ext cx="4745736" cy="56571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99632" y="123444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E5CBA9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1371600"/>
            <a:ext cx="4855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5A1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特征方程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7719" y="1709928"/>
            <a:ext cx="4581625" cy="6400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8368" y="3063240"/>
            <a:ext cx="107899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E5CBA9">
                <a:alpha val="8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59536" y="3200400"/>
            <a:ext cx="10387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5A1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对角化</a:t>
            </a:r>
            <a:endParaRPr lang="en-US" sz="11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60904" y="3538728"/>
            <a:ext cx="6784848" cy="48463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68680" y="4828032"/>
            <a:ext cx="10332720" cy="658368"/>
          </a:xfrm>
          <a:prstGeom prst="roundRect">
            <a:avLst>
              <a:gd name="adj" fmla="val 6944"/>
            </a:avLst>
          </a:prstGeom>
          <a:solidFill>
            <a:srgbClr val="F6DFBF">
              <a:alpha val="95000"/>
            </a:srgbClr>
          </a:solidFill>
          <a:ln w="10160">
            <a:solidFill>
              <a:srgbClr val="F6DFBF">
                <a:alpha val="70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051560" y="4956048"/>
            <a:ext cx="99669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特征分解把复杂变换拆成“换基 → 缩放 → 换回”。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1137392" y="62819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6C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1"/>
          </a:solidFill>
          <a:ln w="12700">
            <a:solidFill>
              <a:srgbClr val="FCF8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25A13"/>
          </a:solidFill>
          <a:ln w="12700">
            <a:solidFill>
              <a:srgbClr val="B25A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6693408"/>
            <a:ext cx="12045391" cy="164592"/>
          </a:xfrm>
          <a:prstGeom prst="rect">
            <a:avLst/>
          </a:prstGeom>
          <a:solidFill>
            <a:srgbClr val="F6DFBF"/>
          </a:solidFill>
          <a:ln w="12700">
            <a:solidFill>
              <a:srgbClr val="F6D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 正交投影与最小二乘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A6C5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用最近点拟合数据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11887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5CBA9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325880"/>
            <a:ext cx="4946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5A1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向量投影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3635" y="1664208"/>
            <a:ext cx="2398705" cy="7315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08192" y="11887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5CBA9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1325880"/>
            <a:ext cx="4946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5A1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最小二乘解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4224" y="1672861"/>
            <a:ext cx="4837176" cy="71421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8368" y="3108960"/>
            <a:ext cx="1078992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E5CBA9">
                <a:alpha val="8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59536" y="3246120"/>
            <a:ext cx="10387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5A1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残差正交条件</a:t>
            </a:r>
            <a:endParaRPr lang="en-US" sz="11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7878" y="3584448"/>
            <a:ext cx="2830899" cy="4480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" y="4736592"/>
            <a:ext cx="100584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24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无法精确求解时，寻找误差平方和最小的解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24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残差向量与列空间正交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24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回归、信号处理与机器学习都依赖此思想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1137392" y="62819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6C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1"/>
          </a:solidFill>
          <a:ln w="12700">
            <a:solidFill>
              <a:srgbClr val="FCF8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25A13"/>
          </a:solidFill>
          <a:ln w="12700">
            <a:solidFill>
              <a:srgbClr val="B25A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6693408"/>
            <a:ext cx="12045391" cy="164592"/>
          </a:xfrm>
          <a:prstGeom prst="rect">
            <a:avLst/>
          </a:prstGeom>
          <a:solidFill>
            <a:srgbClr val="F6DFBF"/>
          </a:solidFill>
          <a:ln w="12700">
            <a:solidFill>
              <a:srgbClr val="F6D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 奇异值分解 SVD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A6C5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任意矩阵的稳定分解框架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E5CBA9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371600"/>
            <a:ext cx="4855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5A1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SVD 形式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70224" y="1709928"/>
            <a:ext cx="3234088" cy="640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99632" y="123444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E5CBA9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1371600"/>
            <a:ext cx="4855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5A1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奇异值排序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55664" y="1773442"/>
            <a:ext cx="4745736" cy="513053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8368" y="3063240"/>
            <a:ext cx="107899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E5CBA9">
                <a:alpha val="8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59536" y="3200400"/>
            <a:ext cx="10387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5A1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低秩近似</a:t>
            </a:r>
            <a:endParaRPr lang="en-US" sz="11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6668" y="3538728"/>
            <a:ext cx="1173320" cy="48463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68680" y="4828032"/>
            <a:ext cx="10332720" cy="658368"/>
          </a:xfrm>
          <a:prstGeom prst="roundRect">
            <a:avLst>
              <a:gd name="adj" fmla="val 6944"/>
            </a:avLst>
          </a:prstGeom>
          <a:solidFill>
            <a:srgbClr val="F6DFBF">
              <a:alpha val="95000"/>
            </a:srgbClr>
          </a:solidFill>
          <a:ln w="10160">
            <a:solidFill>
              <a:srgbClr val="F6DFBF">
                <a:alpha val="70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051560" y="4956048"/>
            <a:ext cx="99669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SVD 是降维、压缩、去噪与推荐系统的基础工具。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1137392" y="62819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6C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数学公式演示</dc:subject>
  <dc:creator>OpenAI</dc:creator>
  <cp:lastModifiedBy>OpenAI</cp:lastModifiedBy>
  <cp:revision>1</cp:revision>
  <dcterms:created xsi:type="dcterms:W3CDTF">2026-04-24T03:14:09Z</dcterms:created>
  <dcterms:modified xsi:type="dcterms:W3CDTF">2026-04-24T03:14:09Z</dcterms:modified>
</cp:coreProperties>
</file>