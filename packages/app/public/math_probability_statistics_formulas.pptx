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 w="12700">
            <a:solidFill>
              <a:srgbClr val="F7FB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CEFE3"/>
          </a:solidFill>
          <a:ln w="12700">
            <a:solidFill>
              <a:srgbClr val="DCE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2179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概率统计公式速览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474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从不确定性建模到样本推断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3760" y="991661"/>
            <a:ext cx="4023360" cy="83303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760" y="2391397"/>
            <a:ext cx="4023360" cy="868199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3158" y="3749040"/>
            <a:ext cx="2904565" cy="98755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85800" y="2286000"/>
            <a:ext cx="5257800" cy="713232"/>
          </a:xfrm>
          <a:prstGeom prst="roundRect">
            <a:avLst>
              <a:gd name="adj" fmla="val 6410"/>
            </a:avLst>
          </a:prstGeom>
          <a:solidFill>
            <a:srgbClr val="DCEFE3">
              <a:alpha val="95000"/>
            </a:srgbClr>
          </a:solidFill>
          <a:ln w="10160">
            <a:solidFill>
              <a:srgbClr val="DCEFE3">
                <a:alpha val="70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68680" y="2414016"/>
            <a:ext cx="4892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核心直觉：概率描述不确定性，统计用样本反推总体。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 w="12700">
            <a:solidFill>
              <a:srgbClr val="F7FB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CEFE3"/>
          </a:solidFill>
          <a:ln w="12700">
            <a:solidFill>
              <a:srgbClr val="DCE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概率规则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事件之间的基本运算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33375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补事件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23664"/>
            <a:ext cx="2825496" cy="34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7408" y="1234440"/>
            <a:ext cx="33375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1371600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加法公式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440" y="1914082"/>
            <a:ext cx="2825496" cy="1677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38160" y="1234440"/>
            <a:ext cx="331927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39328" y="1371600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乘法公式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4192" y="1878908"/>
            <a:ext cx="2807208" cy="23811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58368" y="3063240"/>
            <a:ext cx="10789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独立性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6421" y="3538728"/>
            <a:ext cx="8493813" cy="4846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68680" y="4828032"/>
            <a:ext cx="10332720" cy="658368"/>
          </a:xfrm>
          <a:prstGeom prst="roundRect">
            <a:avLst>
              <a:gd name="adj" fmla="val 6944"/>
            </a:avLst>
          </a:prstGeom>
          <a:solidFill>
            <a:srgbClr val="DCEFE3">
              <a:alpha val="95000"/>
            </a:srgbClr>
          </a:solidFill>
          <a:ln w="10160">
            <a:solidFill>
              <a:srgbClr val="DCEFE3">
                <a:alpha val="7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51560" y="4956048"/>
            <a:ext cx="99669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先判断事件关系，再选用加法、乘法或独立性公式。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 w="12700">
            <a:solidFill>
              <a:srgbClr val="F7FB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CEFE3"/>
          </a:solidFill>
          <a:ln w="12700">
            <a:solidFill>
              <a:srgbClr val="DCE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条件概率与贝叶斯公式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用新证据更新信念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条件概率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7108" y="1709928"/>
            <a:ext cx="256032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贝叶斯公式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110" y="1709928"/>
            <a:ext cx="3558845" cy="640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全概率公式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8084" y="3538728"/>
            <a:ext cx="2730488" cy="4846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4736592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先验：观察证据前的概率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似然：假设成立时看到证据的概率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后验：证据出现后的更新概率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 w="12700">
            <a:solidFill>
              <a:srgbClr val="F7FB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CEFE3"/>
          </a:solidFill>
          <a:ln w="12700">
            <a:solidFill>
              <a:srgbClr val="DCE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常见分布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不同场景对应不同随机模型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伯努利分布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18561"/>
            <a:ext cx="4745736" cy="31308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1234440"/>
            <a:ext cx="52578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二项分布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1477" y="1709928"/>
            <a:ext cx="4554110" cy="5303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正态分布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6096" y="3538728"/>
            <a:ext cx="3614464" cy="5212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4828032"/>
            <a:ext cx="10332720" cy="658368"/>
          </a:xfrm>
          <a:prstGeom prst="roundRect">
            <a:avLst>
              <a:gd name="adj" fmla="val 6944"/>
            </a:avLst>
          </a:prstGeom>
          <a:solidFill>
            <a:srgbClr val="DCEFE3">
              <a:alpha val="95000"/>
            </a:srgbClr>
          </a:solidFill>
          <a:ln w="10160">
            <a:solidFill>
              <a:srgbClr val="DCEFE3">
                <a:alpha val="7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51560" y="4956048"/>
            <a:ext cx="99669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离散计数常用二项/泊松，连续误差常用正态。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 w="12700">
            <a:solidFill>
              <a:srgbClr val="F7FB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CEFE3"/>
          </a:solidFill>
          <a:ln w="12700">
            <a:solidFill>
              <a:srgbClr val="DCE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期望、方差与协方差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用数字摘要刻画随机变量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期望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611" y="1709928"/>
            <a:ext cx="4728754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08192" y="12344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371600"/>
            <a:ext cx="4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方差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4224" y="1793484"/>
            <a:ext cx="4837176" cy="4729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协方差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3807" y="3538728"/>
            <a:ext cx="7499043" cy="4846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4736592"/>
            <a:ext cx="10058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期望表示长期平均水平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方差表示离散程度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协方差表示两个变量的共同变化方向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7"/>
          </a:solidFill>
          <a:ln w="12700">
            <a:solidFill>
              <a:srgbClr val="F7FB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6693408"/>
            <a:ext cx="12045391" cy="164592"/>
          </a:xfrm>
          <a:prstGeom prst="rect">
            <a:avLst/>
          </a:prstGeom>
          <a:solidFill>
            <a:srgbClr val="DCEFE3"/>
          </a:solidFill>
          <a:ln w="12700">
            <a:solidFill>
              <a:srgbClr val="DCE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大数定律与中心极限定理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样本均值为何可靠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大数定律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4521" y="1709928"/>
            <a:ext cx="2465493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12344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371600"/>
            <a:ext cx="4855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中心极限定理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60" y="1709928"/>
            <a:ext cx="1995544" cy="640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" y="3063240"/>
            <a:ext cx="10789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BEDAC9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" y="3200400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均值置信区间近似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122" y="3538728"/>
            <a:ext cx="1288412" cy="4846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4828032"/>
            <a:ext cx="10332720" cy="658368"/>
          </a:xfrm>
          <a:prstGeom prst="roundRect">
            <a:avLst>
              <a:gd name="adj" fmla="val 6944"/>
            </a:avLst>
          </a:prstGeom>
          <a:solidFill>
            <a:srgbClr val="DCEFE3">
              <a:alpha val="95000"/>
            </a:srgbClr>
          </a:solidFill>
          <a:ln w="10160">
            <a:solidFill>
              <a:srgbClr val="DCEFE3">
                <a:alpha val="7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51560" y="4956048"/>
            <a:ext cx="99669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当样本量足够大时，均值的抽样分布趋近正态。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137392" y="6281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数学公式演示</dc:subject>
  <dc:creator>OpenAI</dc:creator>
  <cp:lastModifiedBy>OpenAI</cp:lastModifiedBy>
  <cp:revision>1</cp:revision>
  <dcterms:created xsi:type="dcterms:W3CDTF">2026-04-24T03:14:09Z</dcterms:created>
  <dcterms:modified xsi:type="dcterms:W3CDTF">2026-04-24T03:14:09Z</dcterms:modified>
</cp:coreProperties>
</file>